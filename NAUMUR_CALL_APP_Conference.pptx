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731520"/>
            <a:ext cx="3200400" cy="3200400"/>
          </a:xfrm>
          <a:prstGeom prst="ellipse">
            <a:avLst/>
          </a:prstGeom>
          <a:solidFill>
            <a:srgbClr val="1565C0">
              <a:alpha val="25000"/>
            </a:srgbClr>
          </a:solidFill>
          <a:ln w="12700">
            <a:solidFill>
              <a:srgbClr val="1565C0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474720"/>
            <a:ext cx="2743200" cy="2743200"/>
          </a:xfrm>
          <a:prstGeom prst="ellipse">
            <a:avLst/>
          </a:prstGeom>
          <a:solidFill>
            <a:srgbClr val="00BFA5">
              <a:alpha val="20000"/>
            </a:srgbClr>
          </a:solidFill>
          <a:ln w="12700">
            <a:solidFill>
              <a:srgbClr val="00BFA5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400" kern="0" dirty="0">
                <a:solidFill>
                  <a:srgbClr val="00BFA5"/>
                </a:solidFill>
              </a:rPr>
              <a:t>CONFÉRENCE GÉNIE LOGICIEL ENTREPRISE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Concevoir, Implémenter,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Déployer &amp; Maintenir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Application Entreprise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200400" y="2788920"/>
            <a:ext cx="2743200" cy="36576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926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B3C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d'étude  ·  NAUMUR CALL APP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2976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EYOUM ATOCK J-J Brayan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46451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3CDED"/>
                </a:solidFill>
              </a:rPr>
              <a:t>Ingénieur GenIA  · 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54864" cy="29260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554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FA5"/>
                </a:solidFill>
              </a:rPr>
              <a:t>PLAN DE LA PRÉSENTATION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programme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2 /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34440"/>
            <a:ext cx="64008" cy="7498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307592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65C0"/>
                </a:solidFill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24128" y="1289304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Contexte &amp; Problématique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4128" y="1618488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Pourquoi cette application ?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123444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234440"/>
            <a:ext cx="64008" cy="7498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4608" y="1307592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65C0"/>
                </a:solidFill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321808" y="1289304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Vue d'ensemble applicative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21808" y="1618488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Ce que fait NAUMUR CALL APP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130552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130552"/>
            <a:ext cx="64008" cy="7498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203704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65C0"/>
                </a:solidFill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24128" y="2185416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Architecture technique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24128" y="2514600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Stack, modules, flux de données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2130552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2130552"/>
            <a:ext cx="64008" cy="7498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64608" y="2203704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65C0"/>
                </a:solidFill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321808" y="2185416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Conception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21808" y="2514600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Modèles, entités, auto-codes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3026664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026664"/>
            <a:ext cx="64008" cy="7498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3099816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65C0"/>
                </a:solidFill>
              </a:rPr>
              <a:t>05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24128" y="3081528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Implémentation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24128" y="3410712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11 apps Django, agent IA GenIA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3026664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3026664"/>
            <a:ext cx="64008" cy="7498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64608" y="3099816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65C0"/>
                </a:solidFill>
              </a:rPr>
              <a:t>06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321808" y="3081528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Déploiement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21808" y="3410712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Docker, CI/CD GitHub Actions, Gandi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65760" y="3922776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65760" y="3922776"/>
            <a:ext cx="64008" cy="7498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3995928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65C0"/>
                </a:solidFill>
              </a:rPr>
              <a:t>07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024128" y="397764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Maintenance &amp; Monitoring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024128" y="4306824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Audit, backup, déploiement live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663440" y="3922776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63440" y="3922776"/>
            <a:ext cx="64008" cy="7498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64608" y="3995928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65C0"/>
                </a:solidFill>
              </a:rPr>
              <a:t>08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5321808" y="397764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Leçons apprises &amp; Conclusion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321808" y="4306824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Retour d'expérience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1565C0">
              <a:alpha val="20000"/>
            </a:srgbClr>
          </a:solidFill>
          <a:ln w="12700">
            <a:solidFill>
              <a:srgbClr val="1565C0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54864" cy="29260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93776" y="1554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FA5"/>
                </a:solidFill>
              </a:rPr>
              <a:t>CONTEXTE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Problématique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8412480" cy="704088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48132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14447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5"/>
                </a:solidFill>
              </a:rPr>
              <a:t>Suivi fragmenté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1737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CDED"/>
                </a:solidFill>
              </a:rPr>
              <a:t>Les données de formation éparpillées entre Excel, papier et e-mails.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212848"/>
            <a:ext cx="8412480" cy="704088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232257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📞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2286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5"/>
                </a:solidFill>
              </a:rPr>
              <a:t>Centres d'appel isolés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2578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CDED"/>
                </a:solidFill>
              </a:rPr>
              <a:t>Absence de système unifié pour les enquêtes téléphoniques de satisfaction.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054096"/>
            <a:ext cx="8412480" cy="704088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316382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97280" y="312724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5"/>
                </a:solidFill>
              </a:rPr>
              <a:t>Reporting manuel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341985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CDED"/>
                </a:solidFill>
              </a:rPr>
              <a:t>Consolidation mensuelle chronophage, risque d'erreurs, pas de temps réel.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895344"/>
            <a:ext cx="8412480" cy="704088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400507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97280" y="396849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5"/>
                </a:solidFill>
              </a:rPr>
              <a:t>Zéro IA intégrée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4261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CDED"/>
                </a:solidFill>
              </a:rPr>
              <a:t>Aucune capacité d'analyse conversationnelle ou de génération automatique de rapports.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9AA"/>
                </a:solidFill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54864" cy="29260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554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FA5"/>
                </a:solidFill>
              </a:rPr>
              <a:t>VUE D'ENSEMBLE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NAUMUR CALL APP — Ce que fait l'application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4 /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474720" y="1828800"/>
            <a:ext cx="2194560" cy="1188720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0" y="182880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NAUMUR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CALL APP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914400"/>
            <a:ext cx="1828800" cy="7315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9144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Suivi des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Formations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651760"/>
            <a:ext cx="1828800" cy="7315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26517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Apprenants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&amp; Présences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828800" y="3840480"/>
            <a:ext cx="1828800" cy="7315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828800" y="38404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Satisfaction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Apprenants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0" y="3840480"/>
            <a:ext cx="1828800" cy="7315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0" y="38404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Satisfaction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Formateurs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675120" y="2651760"/>
            <a:ext cx="1828800" cy="7315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75120" y="26517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Agent IA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(GenIA)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675120" y="914400"/>
            <a:ext cx="1828800" cy="7315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75120" y="9144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Reporting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&amp; Exports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0" y="137160"/>
            <a:ext cx="1828800" cy="731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0" y="1371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Appels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Transcription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828800" y="137160"/>
            <a:ext cx="1828800" cy="7315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828800" y="1371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Environnement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&amp; Sécurité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200400" y="4709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565C0"/>
                </a:solidFill>
              </a:rPr>
              <a:t>🌐  call.naumur.com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54864" cy="29260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554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FA5"/>
                </a:solidFill>
              </a:rPr>
              <a:t>STACK TECHNOLOGIQUE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Frameworks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5 /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51560"/>
            <a:ext cx="64008" cy="1920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1430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</a:rPr>
              <a:t>Backend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6072" y="1527048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A1628"/>
                </a:solidFill>
              </a:rPr>
              <a:t>Django 6.0 (Python 3.12+)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A1628"/>
                </a:solidFill>
              </a:rPr>
              <a:t>Django REST Framework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A1628"/>
                </a:solidFill>
              </a:rPr>
              <a:t>Django Channels 4.2 (WebSocket)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A1628"/>
                </a:solidFill>
              </a:rPr>
              <a:t>Gunicorn (WSGI)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0" y="105156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1051560"/>
            <a:ext cx="64008" cy="192024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11430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5"/>
                </a:solidFill>
              </a:rPr>
              <a:t>Intelligence Artificielle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28032" y="1527048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A1628"/>
                </a:solidFill>
              </a:rPr>
              <a:t>LangGraph + LangChain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A1628"/>
                </a:solidFill>
              </a:rPr>
              <a:t>Claude Haiku (Anthropic API)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A1628"/>
                </a:solidFill>
              </a:rPr>
              <a:t>faster-whisper (ASR)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A1628"/>
                </a:solidFill>
              </a:rPr>
              <a:t>PyTorch 2.10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88036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880360"/>
            <a:ext cx="64008" cy="192024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" y="29718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8D9"/>
                </a:solidFill>
              </a:rPr>
              <a:t>Base de Données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76072" y="3355848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A1628"/>
                </a:solidFill>
              </a:rPr>
              <a:t>PostgreSQL (production)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A1628"/>
                </a:solidFill>
              </a:rPr>
              <a:t>SQLite (développement)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A1628"/>
                </a:solidFill>
              </a:rPr>
              <a:t>Migrations Django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A1628"/>
                </a:solidFill>
              </a:rPr>
              <a:t>Backup scripts (PS1/SH)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0" y="288036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0" y="2880360"/>
            <a:ext cx="64008" cy="19202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3168" y="29718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DevOps &amp; Déploiement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28032" y="3355848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A1628"/>
                </a:solidFill>
              </a:rPr>
              <a:t>Docker &amp; Docker Compose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A1628"/>
                </a:solidFill>
              </a:rPr>
              <a:t>GitHub Actions (CI/CD)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A1628"/>
                </a:solidFill>
              </a:rPr>
              <a:t>Hébergement Gandi SFTP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A1628"/>
                </a:solidFill>
              </a:rPr>
              <a:t>WhiteNoise (static files)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54864" cy="29260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554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FA5"/>
                </a:solidFill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Architecture Technique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9AA"/>
                </a:solidFill>
              </a:rPr>
              <a:t>6 /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914400" y="1143000"/>
            <a:ext cx="7315200" cy="7498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51560" y="119786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Couche Présentation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0" y="1197864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0E8F5"/>
                </a:solidFill>
              </a:rPr>
              <a:t>Templates Django · PWA · WebSocket UI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480560" y="1892808"/>
            <a:ext cx="182880" cy="265176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993392"/>
            <a:ext cx="7315200" cy="7498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51560" y="204825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Couche Application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89120" y="2048256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0E8F5"/>
                </a:solidFill>
              </a:rPr>
              <a:t>11 Apps Django · Middleware · Signals · Audit Log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480560" y="2743200"/>
            <a:ext cx="182880" cy="265176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2843784"/>
            <a:ext cx="7315200" cy="749808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51560" y="28986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Agent IA (GenIA)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0" y="289864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0E8F5"/>
                </a:solidFill>
              </a:rPr>
              <a:t>LangGraph · Intent Router · Data Loader · Excel Gen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480560" y="3593592"/>
            <a:ext cx="182880" cy="265176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3694176"/>
            <a:ext cx="7315200" cy="74980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51560" y="3749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Couche Données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89120" y="37490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0E8F5"/>
                </a:solidFill>
              </a:rPr>
              <a:t>ORM Django · PostgreSQL/SQLite · Migrations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0" y="4617720"/>
            <a:ext cx="2743200" cy="365760"/>
          </a:xfrm>
          <a:prstGeom prst="rect">
            <a:avLst/>
          </a:prstGeom>
          <a:solidFill>
            <a:srgbClr val="0D1F3C"/>
          </a:solidFill>
          <a:ln w="1905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00400" y="4617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FA5"/>
                </a:solidFill>
              </a:rPr>
              <a:t>GitHub Actions  →  Docker  →  Gandi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54864" cy="29260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554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FA5"/>
                </a:solidFill>
              </a:rPr>
              <a:t>CONCEPTION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de Données &amp; Auto-Codes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7 /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196596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0972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PREST###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472184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8F5"/>
                </a:solidFill>
              </a:rPr>
              <a:t>Prestataire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68880" y="1051560"/>
            <a:ext cx="1965960" cy="7772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10972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FORMA###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468880" y="1472184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8F5"/>
                </a:solidFill>
              </a:rPr>
              <a:t>Formation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17720" y="1051560"/>
            <a:ext cx="1965960" cy="77724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7720" y="10972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CLA###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17720" y="1472184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8F5"/>
                </a:solidFill>
              </a:rPr>
              <a:t>Classe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766560" y="1051560"/>
            <a:ext cx="1965960" cy="7772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66560" y="10972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APP###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766560" y="1472184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8F5"/>
                </a:solidFill>
              </a:rPr>
              <a:t>Apprenant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2057400"/>
            <a:ext cx="1965960" cy="7772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0040" y="21031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INS###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0040" y="2478024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8F5"/>
                </a:solidFill>
              </a:rPr>
              <a:t>Inspecteur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468880" y="2057400"/>
            <a:ext cx="196596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468880" y="21031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LIEU###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468880" y="2478024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8F5"/>
                </a:solidFill>
              </a:rPr>
              <a:t>Lieu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17720" y="2057400"/>
            <a:ext cx="1965960" cy="7772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617720" y="21031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BEN###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617720" y="2478024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8F5"/>
                </a:solidFill>
              </a:rPr>
              <a:t>Bénéficiaire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766560" y="2057400"/>
            <a:ext cx="1965960" cy="77724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766560" y="21031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FOR###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766560" y="2478024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8F5"/>
                </a:solidFill>
              </a:rPr>
              <a:t>Formateur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20040" y="30175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Modèles d'enquête &amp; suivi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20040" y="3474720"/>
            <a:ext cx="26517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" y="3474720"/>
            <a:ext cx="64008" cy="5486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1208" y="351129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</a:rPr>
              <a:t>EnquêtePresence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21208" y="37490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4495E"/>
                </a:solidFill>
              </a:rPr>
              <a:t>Présence (PR/AB) + codes C/P par classe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154680" y="3474720"/>
            <a:ext cx="26517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154680" y="3474720"/>
            <a:ext cx="64008" cy="5486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55848" y="351129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EnquêteSatisfApprenant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355848" y="37490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4495E"/>
                </a:solidFill>
              </a:rPr>
              <a:t>Q1–Q9 sur 5 pts + commentaires anonymes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989320" y="3474720"/>
            <a:ext cx="26517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989320" y="3474720"/>
            <a:ext cx="64008" cy="54864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90488" y="351129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28D9"/>
                </a:solidFill>
              </a:rPr>
              <a:t>EnquêteSatisfFormateur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190488" y="37490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4495E"/>
                </a:solidFill>
              </a:rPr>
              <a:t>Q1–Q9 formateur + scoring prestataire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737360" y="4133088"/>
            <a:ext cx="3977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1737360" y="4133088"/>
            <a:ext cx="64008" cy="5486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938528" y="4169664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EnquêteEnvironnement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938528" y="4407408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4495E"/>
                </a:solidFill>
              </a:rPr>
              <a:t>Check-list équipement / sécurité / confort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572000" y="4133088"/>
            <a:ext cx="3977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572000" y="4133088"/>
            <a:ext cx="64008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73168" y="4169664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Appel / AppelAnswer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773168" y="4407408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4495E"/>
                </a:solidFill>
              </a:rPr>
              <a:t>Audio + transcription + réponses IA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54864" cy="29260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554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FA5"/>
                </a:solidFill>
              </a:rPr>
              <a:t>IMPLÉMENTATION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Applications Django — Architecture Modulaire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8 /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27889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97280"/>
            <a:ext cx="64008" cy="8412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17043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</a:rPr>
              <a:t>core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21208" y="151790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4495E"/>
                </a:solidFill>
              </a:rPr>
              <a:t>Auth · Dashboard · Audit · Middleware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64408" y="1097280"/>
            <a:ext cx="27889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64408" y="1097280"/>
            <a:ext cx="64008" cy="8412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65576" y="117043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</a:rPr>
              <a:t>formations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465576" y="151790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4495E"/>
                </a:solidFill>
              </a:rPr>
              <a:t>Programmes · Classes · Formateurs · Lieux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208776" y="1097280"/>
            <a:ext cx="27889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08776" y="1097280"/>
            <a:ext cx="64008" cy="8412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9944" y="117043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</a:rPr>
              <a:t>apprenants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9944" y="151790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4495E"/>
                </a:solidFill>
              </a:rPr>
              <a:t>Référentiel · Import CSV · Codes APP###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0040" y="2121408"/>
            <a:ext cx="27889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121408"/>
            <a:ext cx="64008" cy="84124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" y="21945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D28D9"/>
                </a:solidFill>
              </a:rPr>
              <a:t>presences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21208" y="254203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4495E"/>
                </a:solidFill>
              </a:rPr>
              <a:t>Pointage code/papier · Taux de présence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64408" y="2121408"/>
            <a:ext cx="27889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64408" y="2121408"/>
            <a:ext cx="64008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65576" y="21945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satisfaction_apprenants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465576" y="254203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4495E"/>
                </a:solidFill>
              </a:rPr>
              <a:t>Q1–Q9 · Commentaires · RAG + IA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208776" y="2121408"/>
            <a:ext cx="27889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08776" y="2121408"/>
            <a:ext cx="64008" cy="8412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9944" y="21945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</a:rPr>
              <a:t>satisfaction_formateurs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09944" y="254203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4495E"/>
                </a:solidFill>
              </a:rPr>
              <a:t>Q1–Q9 formateurs · Scoring prestataire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0040" y="3145536"/>
            <a:ext cx="27889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" y="3145536"/>
            <a:ext cx="64008" cy="8412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1208" y="321868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</a:rPr>
              <a:t>appels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21208" y="35661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4495E"/>
                </a:solidFill>
              </a:rPr>
              <a:t>Enregistrement audio · Transcription · Flags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264408" y="3145536"/>
            <a:ext cx="27889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64408" y="3145536"/>
            <a:ext cx="64008" cy="8412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65576" y="321868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environnement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465576" y="35661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4495E"/>
                </a:solidFill>
              </a:rPr>
              <a:t>Évaluation équipements / sécurité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208776" y="3145536"/>
            <a:ext cx="27889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208776" y="3145536"/>
            <a:ext cx="64008" cy="84124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9944" y="321868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FA5"/>
                </a:solidFill>
              </a:rPr>
              <a:t>reporting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409944" y="35661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4495E"/>
                </a:solidFill>
              </a:rPr>
              <a:t>40+ graphiques · KPIs · CSV/Excel export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20040" y="4169664"/>
            <a:ext cx="27889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20040" y="4169664"/>
            <a:ext cx="64008" cy="84124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21208" y="424281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</a:rPr>
              <a:t>messaging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21208" y="459028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4495E"/>
                </a:solidFill>
              </a:rPr>
              <a:t>Contacts · Campagnes SMS · WebSocket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264408" y="4169664"/>
            <a:ext cx="27889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264408" y="4169664"/>
            <a:ext cx="64008" cy="8412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65576" y="424281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32"/>
                </a:solidFill>
              </a:rPr>
              <a:t>beneficiaires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3465576" y="459028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4495E"/>
                </a:solidFill>
              </a:rPr>
              <a:t>Portail public d'upload · Organisations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320040" y="475488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Chaque app : models · views · urls · admin · migrations · tests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3200400"/>
            <a:ext cx="3657600" cy="3657600"/>
          </a:xfrm>
          <a:prstGeom prst="ellipse">
            <a:avLst/>
          </a:prstGeom>
          <a:solidFill>
            <a:srgbClr val="7B1FA2">
              <a:alpha val="18000"/>
            </a:srgbClr>
          </a:solidFill>
          <a:ln w="12700">
            <a:solidFill>
              <a:srgbClr val="7B1FA2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54864" cy="29260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93776" y="1554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FA5"/>
                </a:solidFill>
              </a:rPr>
              <a:t>AGENT IA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Agent IA Intégré — GenIA PADESCE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9AA"/>
                </a:solidFill>
              </a:rPr>
              <a:t>9 / 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280160"/>
            <a:ext cx="1645920" cy="9144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335024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Requête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Utilisateur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182880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D0E8F5"/>
                </a:solidFill>
              </a:rPr>
              <a:t>Langage naturel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920240" y="1682496"/>
            <a:ext cx="457200" cy="10972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03120" y="1280160"/>
            <a:ext cx="1645920" cy="91440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103120" y="1335024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Router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LangGraph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03120" y="182880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D0E8F5"/>
                </a:solidFill>
              </a:rPr>
              <a:t>Intent classif.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749040" y="1682496"/>
            <a:ext cx="457200" cy="10972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31920" y="1280160"/>
            <a:ext cx="1645920" cy="914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931920" y="1335024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Extraction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Entités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931920" y="182880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D0E8F5"/>
                </a:solidFill>
              </a:rPr>
              <a:t>NER + orthographe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577840" y="1682496"/>
            <a:ext cx="457200" cy="10972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60720" y="1280160"/>
            <a:ext cx="1645920" cy="9144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760720" y="1335024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Loader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760720" y="182880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D0E8F5"/>
                </a:solidFill>
              </a:rPr>
              <a:t>ORM + SQL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406640" y="1682496"/>
            <a:ext cx="457200" cy="10972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89520" y="1280160"/>
            <a:ext cx="1645920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589520" y="1335024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Pipeline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Sortie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589520" y="182880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D0E8F5"/>
                </a:solidFill>
              </a:rPr>
              <a:t>Excel / Texte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20040" y="24505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3CDED"/>
                </a:solidFill>
              </a:rPr>
              <a:t>Intents détectés :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" y="2834640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285292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fiche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0040" y="3154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3CDED"/>
                </a:solidFill>
              </a:rPr>
              <a:t>Fiche apprenant/formation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514600" y="2834640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14600" y="285292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excel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514600" y="3154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3CDED"/>
                </a:solidFill>
              </a:rPr>
              <a:t>Génération rapport Excel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09160" y="2834640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285292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question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09160" y="3154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3CDED"/>
                </a:solidFill>
              </a:rPr>
              <a:t>Q&amp;A données PADESCE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903720" y="2834640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03720" y="285292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hors_cadre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903720" y="3154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3CDED"/>
                </a:solidFill>
              </a:rPr>
              <a:t>Hors périmètre → rejet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20040" y="3566160"/>
            <a:ext cx="1965960" cy="118872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11480" y="362102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5"/>
                </a:solidFill>
              </a:rPr>
              <a:t>🧠 LLM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11480" y="393192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CDED"/>
                </a:solidFill>
              </a:rPr>
              <a:t>Claude Haiku 4.5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3CDED"/>
                </a:solidFill>
              </a:rPr>
              <a:t>2048 tokens max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514600" y="3566160"/>
            <a:ext cx="1965960" cy="118872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2606040" y="362102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5"/>
                </a:solidFill>
              </a:rPr>
              <a:t>📁 Exports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606040" y="393192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CDED"/>
                </a:solidFill>
              </a:rPr>
              <a:t>Excel formaté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3CDED"/>
                </a:solidFill>
              </a:rPr>
              <a:t>Dossier /exports/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709160" y="3566160"/>
            <a:ext cx="1965960" cy="118872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800600" y="362102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5"/>
                </a:solidFill>
              </a:rPr>
              <a:t>💾 Mémoire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800600" y="393192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CDED"/>
                </a:solidFill>
              </a:rPr>
              <a:t>5 tours de conv.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3CDED"/>
                </a:solidFill>
              </a:rPr>
              <a:t>Contexte persistant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903720" y="3566160"/>
            <a:ext cx="1965960" cy="118872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995160" y="362102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5"/>
                </a:solidFill>
              </a:rPr>
              <a:t>🎙 Audio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995160" y="393192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CDED"/>
                </a:solidFill>
              </a:rPr>
              <a:t>Whisper ASR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3CDED"/>
                </a:solidFill>
              </a:rPr>
              <a:t>Transcription MP3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54864" cy="29260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554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FA5"/>
                </a:solidFill>
              </a:rPr>
              <a:t>DÉPLOIEMENT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CI/CD — De Git à la Production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10 /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1463040" cy="1463040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0058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150876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Push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git main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737360" y="1682496"/>
            <a:ext cx="457200" cy="10972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20240" y="1005840"/>
            <a:ext cx="1463040" cy="14630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920240" y="10058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920240" y="150876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GitHub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Actions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83280" y="1682496"/>
            <a:ext cx="457200" cy="10972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66160" y="1005840"/>
            <a:ext cx="1463040" cy="14630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566160" y="10058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566160" y="150876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Build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Check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0" y="1682496"/>
            <a:ext cx="457200" cy="10972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12080" y="1005840"/>
            <a:ext cx="1463040" cy="146304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212080" y="10058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212080" y="150876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Collectstatic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+ Migrate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675120" y="1682496"/>
            <a:ext cx="457200" cy="10972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0" y="1005840"/>
            <a:ext cx="1463040" cy="14630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858000" y="10058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858000" y="150876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SFTP →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Gandi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2743200"/>
            <a:ext cx="41148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2743200"/>
            <a:ext cx="64008" cy="21488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" y="281635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Développement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76072" y="3218688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A1628"/>
                </a:solidFill>
              </a:rPr>
              <a:t>Docker Compose (SQLite + hot reload)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A1628"/>
                </a:solidFill>
              </a:rPr>
              <a:t>Variables : .env.local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A1628"/>
                </a:solidFill>
              </a:rPr>
              <a:t>Tests : pytest + manage.py check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0" y="2743200"/>
            <a:ext cx="41148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0" y="2743200"/>
            <a:ext cx="64008" cy="21488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3168" y="281635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Production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828032" y="3218688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A1628"/>
                </a:solidFill>
              </a:rPr>
              <a:t>Gunicorn + WhiteNoise + SSL TLS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A1628"/>
                </a:solidFill>
              </a:rPr>
              <a:t>ALLOWED_HOSTS : call.naumur.com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A1628"/>
                </a:solidFill>
              </a:rPr>
              <a:t>Secrets GitHub Actions + HSTS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20040" y="475488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Dockerfile  ·  docker-compose.yml  ·  .github/workflows/deploy-gandi.yml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54864" cy="29260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554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FA5"/>
                </a:solidFill>
              </a:rPr>
              <a:t>SÉCURITÉ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&amp; Contrôle d'Accès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11 /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4572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43000"/>
            <a:ext cx="64008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1615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Admin Système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423160" y="1216152"/>
            <a:ext cx="2331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495E"/>
                </a:solidFill>
              </a:rPr>
              <a:t>Accès total, config, gestion users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1947672"/>
            <a:ext cx="4572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947672"/>
            <a:ext cx="64008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02082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Inspecteur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23160" y="2020824"/>
            <a:ext cx="2331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495E"/>
                </a:solidFill>
              </a:rPr>
              <a:t>Saisie enquêtes toutes formations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752344"/>
            <a:ext cx="4572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752344"/>
            <a:ext cx="64008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82549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Prestataire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23160" y="2825496"/>
            <a:ext cx="2331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495E"/>
                </a:solidFill>
              </a:rPr>
              <a:t>Ses classes uniquement, lecture rapports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3557016"/>
            <a:ext cx="4572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557016"/>
            <a:ext cx="64008" cy="6583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63016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Consultation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423160" y="3630168"/>
            <a:ext cx="2331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495E"/>
                </a:solidFill>
              </a:rPr>
              <a:t>Tableaux de bord, aucune modification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120640" y="1143000"/>
            <a:ext cx="17830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120640" y="1143000"/>
            <a:ext cx="64008" cy="10789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21808" y="121615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FA5"/>
                </a:solidFill>
              </a:rPr>
              <a:t>🔒 HSTS + SSL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321808" y="155448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4495E"/>
                </a:solidFill>
              </a:rPr>
              <a:t>Chiffrement TLS obligatoire en production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040880" y="1143000"/>
            <a:ext cx="17830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040880" y="1143000"/>
            <a:ext cx="64008" cy="10789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42048" y="121615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FA5"/>
                </a:solidFill>
              </a:rPr>
              <a:t>📋 Audit Log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242048" y="155448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4495E"/>
                </a:solidFill>
              </a:rPr>
              <a:t>Historique horodaté de toutes les modifications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120640" y="2377440"/>
            <a:ext cx="17830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120640" y="2377440"/>
            <a:ext cx="64008" cy="10789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21808" y="245059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FA5"/>
                </a:solidFill>
              </a:rPr>
              <a:t>🚫 CSRF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21808" y="278892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4495E"/>
                </a:solidFill>
              </a:rPr>
              <a:t>Protection Django + CSRF_TRUSTED_ORIGINS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040880" y="2377440"/>
            <a:ext cx="17830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040880" y="2377440"/>
            <a:ext cx="64008" cy="10789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42048" y="245059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FA5"/>
                </a:solidFill>
              </a:rPr>
              <a:t>🔐 Secrets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242048" y="278892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4495E"/>
                </a:solidFill>
              </a:rPr>
              <a:t>GitHub Secrets pour clés et credentials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120640" y="3611880"/>
            <a:ext cx="17830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120640" y="3611880"/>
            <a:ext cx="64008" cy="10789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21808" y="368503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FA5"/>
                </a:solidFill>
              </a:rPr>
              <a:t>📱 Session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321808" y="402336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4495E"/>
                </a:solidFill>
              </a:rPr>
              <a:t>Auto-logout inactivité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040880" y="3611880"/>
            <a:ext cx="17830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040880" y="3611880"/>
            <a:ext cx="64008" cy="10789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42048" y="368503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FA5"/>
                </a:solidFill>
              </a:rPr>
              <a:t>🛡 Middleware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242048" y="402336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4495E"/>
                </a:solidFill>
              </a:rPr>
              <a:t>LoginRequired + activity tracking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457200"/>
            <a:ext cx="3200400" cy="3200400"/>
          </a:xfrm>
          <a:prstGeom prst="ellipse">
            <a:avLst/>
          </a:prstGeom>
          <a:solidFill>
            <a:srgbClr val="00BFA5">
              <a:alpha val="16000"/>
            </a:srgbClr>
          </a:solidFill>
          <a:ln w="12700">
            <a:solidFill>
              <a:srgbClr val="00BFA5">
                <a:alpha val="1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54864" cy="29260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93776" y="1554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FA5"/>
                </a:solidFill>
              </a:rPr>
              <a:t>MAINTENANCE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Maintenance &amp; Monitoring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9AA"/>
                </a:solidFill>
              </a:rPr>
              <a:t>12 / 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4114800" cy="1664208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28016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</a:rPr>
              <a:t>💾  Backup Automatisé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3CDED"/>
                </a:solidFill>
              </a:rPr>
              <a:t>Scripts PowerShell + Bash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3CDED"/>
                </a:solidFill>
              </a:rPr>
              <a:t>Backup SQLite quotidien + rotation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3CDED"/>
                </a:solidFill>
              </a:rPr>
              <a:t>Commande : manage.py backup_db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3CDED"/>
                </a:solidFill>
              </a:rPr>
              <a:t>Tableau de bord backup intégré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0" y="1188720"/>
            <a:ext cx="4114800" cy="1664208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128016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1FA2"/>
                </a:solidFill>
              </a:rPr>
              <a:t>🚀  Déploiement Live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00600" y="169164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3CDED"/>
                </a:solidFill>
              </a:rPr>
              <a:t>Vue temps réel /deploiement/live/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3CDED"/>
                </a:solidFill>
              </a:rPr>
              <a:t>Statut par étape (check · migrate · deploy)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3CDED"/>
                </a:solidFill>
              </a:rPr>
              <a:t>API JSON /deploiement/api/config/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3CDED"/>
                </a:solidFill>
              </a:rPr>
              <a:t>Notification succès / erreur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3017520"/>
            <a:ext cx="4114800" cy="1664208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310896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5"/>
                </a:solidFill>
              </a:rPr>
              <a:t>📊  Logs &amp; Observabilité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52044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3CDED"/>
                </a:solidFill>
              </a:rPr>
              <a:t>logs/app.log + logs/access.log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3CDED"/>
                </a:solidFill>
              </a:rPr>
              <a:t>Middleware d'activité utilisateur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3CDED"/>
                </a:solidFill>
              </a:rPr>
              <a:t>Modèle UserActivity en base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3CDED"/>
                </a:solidFill>
              </a:rPr>
              <a:t>Django admin pour audit trail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0" y="3017520"/>
            <a:ext cx="4114800" cy="1664208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0" y="310896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🔄  Migrations &amp; Évolution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00600" y="352044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3CDED"/>
                </a:solidFill>
              </a:rPr>
              <a:t>Migrations Django versionnées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3CDED"/>
                </a:solidFill>
              </a:rPr>
              <a:t>Scripts widen_fields pour PostgreSQL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3CDED"/>
                </a:solidFill>
              </a:rPr>
              <a:t>Seed migrations pour données init.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3CDED"/>
                </a:solidFill>
              </a:rPr>
              <a:t>Sync SQLite ↔ PostgreSQL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54864" cy="29260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554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FA5"/>
                </a:solidFill>
              </a:rPr>
              <a:t>FONCTIONNALITÉS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Clés &amp; Valeur Ajoutée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13 /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2011680" cy="12801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05156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11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20040" y="17830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8F5"/>
                </a:solidFill>
              </a:rPr>
              <a:t>Apps Django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14600" y="1005840"/>
            <a:ext cx="2011680" cy="12801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14600" y="105156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40+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2514600" y="17830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8F5"/>
                </a:solidFill>
              </a:rPr>
              <a:t>Graphiques reporting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09160" y="1005840"/>
            <a:ext cx="2011680" cy="12801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09160" y="105156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9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4709160" y="17830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8F5"/>
                </a:solidFill>
              </a:rPr>
              <a:t>Questions Q1–Q9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903720" y="1005840"/>
            <a:ext cx="2011680" cy="12801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03720" y="105156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100%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903720" y="17830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8F5"/>
                </a:solidFill>
              </a:rPr>
              <a:t>CI/CD automatisé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2560320"/>
            <a:ext cx="4114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560320"/>
            <a:ext cx="64008" cy="64008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" y="261518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FA5"/>
                </a:solidFill>
              </a:rPr>
              <a:t>📥 Import/Export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21208" y="28803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</a:rPr>
              <a:t>CSV/Excel pour apprenants, formateurs, formations. Consolidation Excel (xlsm).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2560320"/>
            <a:ext cx="4114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560320"/>
            <a:ext cx="64008" cy="64008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56048" y="261518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FA5"/>
                </a:solidFill>
              </a:rPr>
              <a:t>🤖 Chat IA intégré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956048" y="28803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</a:rPr>
              <a:t>Interface /api/chat/ pour interroger la base en langage naturel.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3310128"/>
            <a:ext cx="4114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310128"/>
            <a:ext cx="64008" cy="64008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1208" y="33649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FA5"/>
                </a:solidFill>
              </a:rPr>
              <a:t>📱 PWA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21208" y="36301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</a:rPr>
              <a:t>Progressive Web App installable, service worker, offline partiel.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3310128"/>
            <a:ext cx="4114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310128"/>
            <a:ext cx="64008" cy="64008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56048" y="33649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FA5"/>
                </a:solidFill>
              </a:rPr>
              <a:t>🔁 WebSocket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956048" y="36301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</a:rPr>
              <a:t>Django Channels pour messagerie et mises à jour temps réel.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0040" y="4059936"/>
            <a:ext cx="4114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" y="4059936"/>
            <a:ext cx="64008" cy="64008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1208" y="41148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FA5"/>
                </a:solidFill>
              </a:rPr>
              <a:t>🗂 Auto-Codes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21208" y="437997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</a:rPr>
              <a:t>Génération automatique PREST###, FORMA###, CLA###, APP###.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54880" y="4059936"/>
            <a:ext cx="4114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54880" y="4059936"/>
            <a:ext cx="64008" cy="64008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56048" y="41148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FA5"/>
                </a:solidFill>
              </a:rPr>
              <a:t>🌐 Portail public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956048" y="437997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</a:rPr>
              <a:t>Upload bénéficiaires sans connexion + validation automatique.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54864" cy="29260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554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FA5"/>
                </a:solidFill>
              </a:rPr>
              <a:t>RETOUR D'EXPÉRIENCE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Leçons Apprises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14 /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2788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97280"/>
            <a:ext cx="64008" cy="3749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17043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✅  Ce qui a bien fonctionné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21208" y="1664208"/>
            <a:ext cx="24688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</a:rPr>
              <a:t>Architecture modulaire Django = scalabilité et maintenabilité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</a:rPr>
              <a:t>Migrations versionnées = rollback sûr en production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</a:rPr>
              <a:t>GitHub Actions CI/CD = zéro déploiement manuel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</a:rPr>
              <a:t>LangGraph pour l'agent IA = orchestration flexible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64408" y="1097280"/>
            <a:ext cx="2788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64408" y="1097280"/>
            <a:ext cx="64008" cy="3749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65576" y="117043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⚠️  Défis rencontrés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65576" y="1664208"/>
            <a:ext cx="24688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</a:rPr>
              <a:t>Migration SQLite → PostgreSQL : champs trop étroits, scripts widen nécessaires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</a:rPr>
              <a:t>Synchronisation multi-instances (sync_sqlite) sur réseau local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</a:rPr>
              <a:t>Gestion mémoire PyTorch/Whisper sur serveur limité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</a:rPr>
              <a:t>Timeout WebSocket lors des transcriptions longues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08776" y="1097280"/>
            <a:ext cx="2788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08776" y="1097280"/>
            <a:ext cx="64008" cy="37490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9944" y="117043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</a:rPr>
              <a:t>💡  Recommandations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9944" y="1664208"/>
            <a:ext cx="24688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</a:rPr>
              <a:t>Toujours prévoir migration PostgreSQL dès la conception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</a:rPr>
              <a:t>Monitorer la mémoire des modèles IA (Whisper + Claude tokens)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</a:rPr>
              <a:t>Audit log dès le départ — ajout tardif est coûteux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</a:rPr>
              <a:t>Tests d'intégration &gt; tests unitaires pour apps Django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114800" cy="4114800"/>
          </a:xfrm>
          <a:prstGeom prst="ellipse">
            <a:avLst/>
          </a:prstGeom>
          <a:solidFill>
            <a:srgbClr val="1565C0">
              <a:alpha val="16000"/>
            </a:srgbClr>
          </a:solidFill>
          <a:ln w="12700">
            <a:solidFill>
              <a:srgbClr val="1565C0">
                <a:alpha val="1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00BFA5">
              <a:alpha val="18000"/>
            </a:srgbClr>
          </a:solidFill>
          <a:ln w="12700">
            <a:solidFill>
              <a:srgbClr val="00BFA5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FA5"/>
                </a:solidFill>
              </a:rPr>
              <a:t>Ce qu'il faut retenir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65760" cy="36576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051560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Concevoir une architecture modulaire dès le départ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1810512"/>
            <a:ext cx="365760" cy="36576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105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1764792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Automatiser le déploiement avec CI/CD (GitHub Actions)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2523744"/>
            <a:ext cx="365760" cy="36576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237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2478024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Intégrer l'IA (LangGraph + Claude) comme un module à part entière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236976"/>
            <a:ext cx="365760" cy="36576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2369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3191256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Prévoir l'audit, le backup et le monitoring dès la conception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828800" y="4069080"/>
            <a:ext cx="5486400" cy="3657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Questions &amp; Discussion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7731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3CDED"/>
                </a:solidFill>
              </a:rPr>
              <a:t>EYOUM ATOCK J-J Brayan  ·  Ingénieur GenIA  ·  call.naumur.com  ·  2026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NAUMUR CALL APP – Concevoir, Implémenter, Déployer &amp; Maintenir une Application Entreprise</dc:title>
  <dc:subject>PptxGenJS Presentation</dc:subject>
  <dc:creator>EYOUM ATOCK J-J Brayan</dc:creator>
  <cp:lastModifiedBy>EYOUM ATOCK J-J Brayan</cp:lastModifiedBy>
  <cp:revision>1</cp:revision>
  <dcterms:created xsi:type="dcterms:W3CDTF">2026-04-04T10:53:56Z</dcterms:created>
  <dcterms:modified xsi:type="dcterms:W3CDTF">2026-04-04T10:53:56Z</dcterms:modified>
</cp:coreProperties>
</file>